
<file path=[Content_Types].xml><?xml version="1.0" encoding="utf-8"?>
<Types xmlns="http://schemas.openxmlformats.org/package/2006/content-types"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77" r:id="rId6"/>
    <p:sldId id="258" r:id="rId7"/>
    <p:sldId id="290" r:id="rId8"/>
    <p:sldId id="264" r:id="rId9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3204" autoAdjust="0"/>
  </p:normalViewPr>
  <p:slideViewPr>
    <p:cSldViewPr snapToGrid="0">
      <p:cViewPr varScale="1">
        <p:scale>
          <a:sx n="127" d="100"/>
          <a:sy n="127" d="100"/>
        </p:scale>
        <p:origin x="110" y="139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A0BDEBA1-176B-4684-BC73-32324FF9EDF5}" type="datetime1">
              <a:rPr lang="es-ES" smtClean="0"/>
              <a:t>12/09/2026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BBEB6193-5AA7-489B-8575-00593FC261D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0A3C1E36-AAB4-47D5-89F4-8F921BD84148}" type="datetime1">
              <a:rPr lang="es-ES" smtClean="0"/>
              <a:t>12/09/2026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10895658-EA1F-4910-80AB-4DA76E16747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.svg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116" name="Grupo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upo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upo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upo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upo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upo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upo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upo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297" name="Gráfico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áfico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rtlCol="0" anchor="ctr"/>
          <a:lstStyle>
            <a:lvl1pPr algn="l">
              <a:defRPr lang="es-ES" sz="60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rtlCol="0" anchor="b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s-ES" sz="24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20" name="Imagen 19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upo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upo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upo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upo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upo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upo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upo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6" name="Marcador de fecha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9C9B4FAC-0AE5-4FDD-9B45-49F12FBE70E9}" type="datetime1">
              <a:rPr lang="es-ES" smtClean="0"/>
              <a:t>12/09/2026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rtlCol="0" anchor="ctr">
            <a:normAutofit/>
          </a:bodyPr>
          <a:lstStyle>
            <a:lvl1pPr algn="l">
              <a:defRPr lang="es-ES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3" name="Marcador de posición de imagen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algn="ctr"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1" name="Imagen 10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n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rtlCol="0" anchor="b">
            <a:normAutofit/>
          </a:bodyPr>
          <a:lstStyle>
            <a:lvl1pPr algn="l">
              <a:defRPr lang="es-ES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s-ES" sz="2400">
                <a:solidFill>
                  <a:schemeClr val="tx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upo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upo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upo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upo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upo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upo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63" name="Marcador de posición de imagen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8" name="Gráfico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35" name="Imagen 34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áfico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38" name="Gráfico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upo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upo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upo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upo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upo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upo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upo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67" name="Marcador de fecha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2C2B5D10-01BA-46C4-A39E-A3A8F037168D}" type="datetime1">
              <a:rPr lang="es-ES" smtClean="0"/>
              <a:t>12/09/2026</a:t>
            </a:fld>
            <a:endParaRPr lang="es-ES" dirty="0"/>
          </a:p>
        </p:txBody>
      </p:sp>
      <p:sp>
        <p:nvSpPr>
          <p:cNvPr id="68" name="Marcador de pie de página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9" name="Marcador de número de diapositiva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es-ES"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28" name="Gráfico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áfico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Imagen 34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upo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upo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upo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upo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upo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upo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upo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upo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rtlCol="0" anchor="b">
            <a:normAutofit/>
          </a:bodyPr>
          <a:lstStyle>
            <a:lvl1pPr algn="l">
              <a:defRPr lang="es-ES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s-ES" sz="2400">
                <a:solidFill>
                  <a:schemeClr val="tx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192" name="Marcador de fecha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3DE257B0-0B1B-40C0-890E-3AB8D284D4F0}" type="datetime1">
              <a:rPr lang="es-ES" smtClean="0"/>
              <a:t>12/09/2026</a:t>
            </a:fld>
            <a:endParaRPr lang="es-ES" dirty="0"/>
          </a:p>
        </p:txBody>
      </p:sp>
      <p:sp>
        <p:nvSpPr>
          <p:cNvPr id="193" name="Marcador de pie de página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194" name="Marcador de número de diapositiva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2" name="Imagen 11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31" name="Gráfico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Marcador de fecha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177C618-E189-48F5-8AD3-BDEBDEC3F89A}" type="datetime1">
              <a:rPr lang="es-ES" smtClean="0"/>
              <a:t>12/09/2026</a:t>
            </a:fld>
            <a:endParaRPr lang="es-ES" dirty="0"/>
          </a:p>
        </p:txBody>
      </p:sp>
      <p:sp>
        <p:nvSpPr>
          <p:cNvPr id="33" name="Marcador de pie de página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34" name="Marcador de número de diapositiva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es-ES" sz="18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es-ES" sz="18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áfico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ángulo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ángulo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upo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01" name="Forma libre: Forma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63" name="Forma libre: Forma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 rtlCol="0"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lang="es-ES" sz="1800"/>
            </a:lvl1pPr>
            <a:lvl2pPr>
              <a:lnSpc>
                <a:spcPts val="2000"/>
              </a:lnSpc>
              <a:defRPr lang="es-ES" sz="1800"/>
            </a:lvl2pPr>
            <a:lvl3pPr>
              <a:lnSpc>
                <a:spcPts val="2000"/>
              </a:lnSpc>
              <a:defRPr lang="es-ES" sz="1800"/>
            </a:lvl3pPr>
            <a:lvl4pPr>
              <a:lnSpc>
                <a:spcPts val="2000"/>
              </a:lnSpc>
              <a:defRPr lang="es-ES" sz="1800"/>
            </a:lvl4pPr>
            <a:lvl5pPr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None/>
              <a:defRPr lang="es-ES" sz="18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09" name="Marcador de fecha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40EB7AE-9D04-44B1-A2AD-3158528BDC2A}" type="datetime1">
              <a:rPr lang="es-ES" smtClean="0"/>
              <a:t>12/09/2026</a:t>
            </a:fld>
            <a:endParaRPr lang="es-ES" dirty="0"/>
          </a:p>
        </p:txBody>
      </p:sp>
      <p:sp>
        <p:nvSpPr>
          <p:cNvPr id="210" name="Marcador de pie de página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211" name="Marcador de número de diapositiva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imag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l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 rtlCol="0"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lang="es-ES"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9" name="Marcador de fecha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493E32AF-3FCE-46D9-8013-32EEE691EE0A}" type="datetime1">
              <a:rPr lang="es-ES" smtClean="0"/>
              <a:t>12/09/2026</a:t>
            </a:fld>
            <a:endParaRPr lang="es-ES" dirty="0"/>
          </a:p>
        </p:txBody>
      </p:sp>
      <p:sp>
        <p:nvSpPr>
          <p:cNvPr id="70" name="Marcador de pie de página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71" name="Marcador de número de diapositiva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16" name="Gráfico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ángulo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Tabl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7" name="Rectángulo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s-E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s-E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s-E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s-ES" sz="1800"/>
            </a:lvl5pPr>
          </a:lstStyle>
          <a:p>
            <a:pPr lvl="0" rtl="0"/>
            <a:r>
              <a:rPr lang="es-ES"/>
              <a:t>Haga clic para agregar texto </a:t>
            </a:r>
          </a:p>
          <a:p>
            <a:pPr marL="685800" lvl="1" indent="-228600" rtl="0"/>
            <a:r>
              <a:rPr lang="es-ES"/>
              <a:t>Segundo nivel</a:t>
            </a:r>
          </a:p>
          <a:p>
            <a:pPr marL="1143000" lvl="2" indent="-228600" rtl="0"/>
            <a:r>
              <a:rPr lang="es-ES"/>
              <a:t>Tercer nivel</a:t>
            </a:r>
          </a:p>
          <a:p>
            <a:pPr marL="1600200" lvl="3" indent="-228600" rtl="0"/>
            <a:r>
              <a:rPr lang="es-ES"/>
              <a:t>Cuarto nivel</a:t>
            </a:r>
          </a:p>
          <a:p>
            <a:pPr marL="2057400" lvl="4" indent="-228600" rtl="0"/>
            <a:r>
              <a:rPr lang="es-ES"/>
              <a:t>Quinto nivel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 rtlCol="0"/>
          <a:lstStyle>
            <a:lvl1pPr>
              <a:defRPr lang="es-ES"/>
            </a:lvl1pPr>
          </a:lstStyle>
          <a:p>
            <a:pPr rtl="0"/>
            <a:r>
              <a:rPr lang="es-ES"/>
              <a:t>Haga clic en el icono para insertar una tabla</a:t>
            </a:r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F52EB143-0484-4B4A-822A-8DC2C064522B}" type="datetime1">
              <a:rPr lang="es-ES" smtClean="0"/>
              <a:t>12/09/2026</a:t>
            </a:fld>
            <a:endParaRPr lang="es-ES" dirty="0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48" name="Gráfico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áfico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s-ES"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 rtlCol="0"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lang="es-ES"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lang="es-ES"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lang="es-ES"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lang="es-ES"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texto 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3" name="Marcador de fecha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72E03785-F6E3-493F-956A-4BC16E39C284}" type="datetime1">
              <a:rPr lang="es-ES" smtClean="0"/>
              <a:t>12/09/2026</a:t>
            </a:fld>
            <a:endParaRPr lang="es-ES" dirty="0"/>
          </a:p>
        </p:txBody>
      </p:sp>
      <p:sp>
        <p:nvSpPr>
          <p:cNvPr id="64" name="Marcador de pie de página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5" name="Marcador de número de diapositiva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5" name="Marcador de posición de tabla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 rtlCol="0"/>
          <a:lstStyle>
            <a:lvl1pPr>
              <a:defRPr lang="es-ES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s-ES"/>
              <a:t>Haga clic en el icono para insertar una tabla</a:t>
            </a:r>
          </a:p>
          <a:p>
            <a:pPr rtl="0"/>
            <a:endParaRPr lang="es-ES" dirty="0"/>
          </a:p>
        </p:txBody>
      </p:sp>
      <p:sp>
        <p:nvSpPr>
          <p:cNvPr id="7" name="Rectángulo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20B67A72-3A57-4FB3-90CC-3D658B9B24C0}" type="datetime1">
              <a:rPr lang="es-ES" smtClean="0"/>
              <a:t>12/09/2026</a:t>
            </a:fld>
            <a:endParaRPr lang="es-ES" dirty="0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id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116" name="Grupo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upo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upo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upo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upo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upo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upo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upo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pic>
          <p:nvPicPr>
            <p:cNvPr id="297" name="Gráfico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áfico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rtlCol="0" anchor="b">
            <a:normAutofit/>
          </a:bodyPr>
          <a:lstStyle>
            <a:lvl1pPr algn="l">
              <a:defRPr lang="es-ES" sz="44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s-ES" sz="1800">
                <a:solidFill>
                  <a:schemeClr val="tx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3DAC8E4-6DEF-4C1E-98BC-5D4BE770117D}" type="datetime1">
              <a:rPr lang="es-ES" smtClean="0"/>
              <a:t>12/09/2026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15.png"/><Relationship Id="rId5" Type="http://schemas.openxmlformats.org/officeDocument/2006/relationships/image" Target="../media/image16.jp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9.pn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18.png"/><Relationship Id="rId5" Type="http://schemas.openxmlformats.org/officeDocument/2006/relationships/image" Target="../media/image17.jp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s-ES" b="0" dirty="0"/>
              <a:t>Predicción de Ventas con IA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5651314-92B0-547F-2C42-9890458F625D}"/>
              </a:ext>
            </a:extLst>
          </p:cNvPr>
          <p:cNvSpPr txBox="1"/>
          <p:nvPr/>
        </p:nvSpPr>
        <p:spPr>
          <a:xfrm>
            <a:off x="9908045" y="6069931"/>
            <a:ext cx="1663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Judit Giravent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79" y="429462"/>
            <a:ext cx="8961521" cy="1890294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s-ES" b="0" dirty="0"/>
              <a:t>Predicción de Ventas con IA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060659" y="2319757"/>
            <a:ext cx="7216942" cy="3649244"/>
          </a:xfrm>
        </p:spPr>
        <p:txBody>
          <a:bodyPr rtlCol="0">
            <a:normAutofit fontScale="62500" lnSpcReduction="20000"/>
          </a:bodyPr>
          <a:lstStyle>
            <a:defPPr>
              <a:defRPr lang="es-ES"/>
            </a:defPPr>
          </a:lstStyle>
          <a:p>
            <a:pPr algn="ctr"/>
            <a:r>
              <a:rPr lang="es-ES" dirty="0"/>
              <a:t>El Mercado de las Especias de </a:t>
            </a:r>
            <a:r>
              <a:rPr lang="es-ES" dirty="0" err="1"/>
              <a:t>Dataclysm</a:t>
            </a:r>
            <a:endParaRPr lang="es-ES" dirty="0"/>
          </a:p>
          <a:p>
            <a:pPr lvl="0"/>
            <a:r>
              <a:rPr lang="es-ES" sz="2000" b="1" dirty="0"/>
              <a:t>Contexto:</a:t>
            </a:r>
            <a:r>
              <a:rPr lang="es-ES" sz="2000" dirty="0"/>
              <a:t> los mercaderes de </a:t>
            </a:r>
            <a:r>
              <a:rPr lang="es-ES" sz="2000" dirty="0" err="1"/>
              <a:t>Dataclysm</a:t>
            </a:r>
            <a:r>
              <a:rPr lang="es-ES" sz="2000" dirty="0"/>
              <a:t> necesitan anticipar la demanda futura de sus productos.</a:t>
            </a:r>
          </a:p>
          <a:p>
            <a:pPr lvl="0"/>
            <a:r>
              <a:rPr lang="es-ES" sz="2000" b="1" dirty="0"/>
              <a:t>Desafío:</a:t>
            </a:r>
            <a:r>
              <a:rPr lang="es-ES" sz="2000" dirty="0"/>
              <a:t> el comercio es cambiante, con picos estacionales difíciles de prever.</a:t>
            </a:r>
          </a:p>
          <a:p>
            <a:r>
              <a:rPr lang="es-ES" sz="2000" b="1" dirty="0"/>
              <a:t>Solución propuesta:</a:t>
            </a:r>
            <a:r>
              <a:rPr lang="es-ES" sz="2000" dirty="0"/>
              <a:t> un modelo de inteligencia artificial entrenado</a:t>
            </a:r>
            <a:r>
              <a:rPr lang="es-ES" dirty="0"/>
              <a:t> con</a:t>
            </a:r>
          </a:p>
          <a:p>
            <a:endParaRPr lang="es-ES" dirty="0"/>
          </a:p>
          <a:p>
            <a:pPr algn="ctr"/>
            <a:r>
              <a:rPr lang="es-ES" dirty="0"/>
              <a:t> </a:t>
            </a:r>
            <a:r>
              <a:rPr lang="es-ES" sz="2900" dirty="0"/>
              <a:t>"¿Cómo podemos predecir las ventas futuras para planificar mejor el stock?"</a:t>
            </a:r>
          </a:p>
          <a:p>
            <a:r>
              <a:rPr lang="es-ES" b="1" dirty="0"/>
              <a:t>Diseño sugerido:</a:t>
            </a:r>
            <a:r>
              <a:rPr lang="es-ES" dirty="0"/>
              <a:t> Fondo sobrio, tipografía </a:t>
            </a:r>
            <a:r>
              <a:rPr lang="es-ES" dirty="0" err="1"/>
              <a:t>sans-serif</a:t>
            </a:r>
            <a:r>
              <a:rPr lang="es-ES" dirty="0"/>
              <a:t>, acento azul o verde. Imagen de fondo temática de mercado/especias al 30% de opacidad.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2</a:t>
            </a:fld>
            <a:endParaRPr lang="es-ES" dirty="0"/>
          </a:p>
        </p:txBody>
      </p:sp>
      <p:pic>
        <p:nvPicPr>
          <p:cNvPr id="5" name="ElevenLabs_2026-09-12T18_31_00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1B980613-73CA-4DDE-A524-FE20825264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52275" y="572531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75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397042"/>
            <a:ext cx="6594768" cy="1570121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algn="ctr"/>
            <a:r>
              <a:rPr lang="es-ES" sz="2000" dirty="0"/>
              <a:t>Proceso seguido en el desarrollo del modelo</a:t>
            </a:r>
          </a:p>
        </p:txBody>
      </p:sp>
      <p:pic>
        <p:nvPicPr>
          <p:cNvPr id="34" name="Marcador de posición de imagen 33" descr="Vista aérea de una intersección de autopista de neó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Elipse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71087451-F34C-DD97-E70F-C6CFE6113900}"/>
              </a:ext>
            </a:extLst>
          </p:cNvPr>
          <p:cNvSpPr txBox="1"/>
          <p:nvPr/>
        </p:nvSpPr>
        <p:spPr>
          <a:xfrm>
            <a:off x="4529889" y="1527650"/>
            <a:ext cx="73693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solidFill>
                  <a:schemeClr val="bg1"/>
                </a:solidFill>
              </a:rPr>
              <a:t>1. Recolección → 2. Preparación → 3. Entrenamiento → 4. Evaluación → 5. Predicción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204C495-04FC-ABD8-E8A7-D7FCCE7F5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936150"/>
              </p:ext>
            </p:extLst>
          </p:nvPr>
        </p:nvGraphicFramePr>
        <p:xfrm>
          <a:off x="5311942" y="2354190"/>
          <a:ext cx="5805237" cy="4355022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935079">
                  <a:extLst>
                    <a:ext uri="{9D8B030D-6E8A-4147-A177-3AD203B41FA5}">
                      <a16:colId xmlns:a16="http://schemas.microsoft.com/office/drawing/2014/main" val="1515478138"/>
                    </a:ext>
                  </a:extLst>
                </a:gridCol>
                <a:gridCol w="1935079">
                  <a:extLst>
                    <a:ext uri="{9D8B030D-6E8A-4147-A177-3AD203B41FA5}">
                      <a16:colId xmlns:a16="http://schemas.microsoft.com/office/drawing/2014/main" val="1957786126"/>
                    </a:ext>
                  </a:extLst>
                </a:gridCol>
                <a:gridCol w="1935079">
                  <a:extLst>
                    <a:ext uri="{9D8B030D-6E8A-4147-A177-3AD203B41FA5}">
                      <a16:colId xmlns:a16="http://schemas.microsoft.com/office/drawing/2014/main" val="3267977143"/>
                    </a:ext>
                  </a:extLst>
                </a:gridCol>
              </a:tblGrid>
              <a:tr h="29342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Paso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Acción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Resultado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01123761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1. Recolección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Dataset real de 995.416 transacciones (2009–2011)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104 semanas de historial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64149985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2. Preparación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Limpieza + creación de features (lags, medias móviles)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93 semanas listas para el modelo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527998202"/>
                  </a:ext>
                </a:extLst>
              </a:tr>
              <a:tr h="862936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3. Entrenamiento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3 modelos probados: Regresión Lineal, Árbol de Decisión y Random Forest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Random Forest seleccionado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7428937"/>
                  </a:ext>
                </a:extLst>
              </a:tr>
              <a:tr h="483264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4. Evaluación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Métricas RMSE, MAE y R²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Comparación con baselines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206478056"/>
                  </a:ext>
                </a:extLst>
              </a:tr>
              <a:tr h="483264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5. Predicción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Predicción de las últimas 12 semanas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Validación contra datos reales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330820062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698CED34-8C02-8137-2D0E-1108E9F20B9A}"/>
              </a:ext>
            </a:extLst>
          </p:cNvPr>
          <p:cNvSpPr txBox="1"/>
          <p:nvPr/>
        </p:nvSpPr>
        <p:spPr>
          <a:xfrm>
            <a:off x="5193765" y="1967163"/>
            <a:ext cx="6234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bg1"/>
                </a:solidFill>
                <a:effectLst/>
                <a:latin typeface="+mn-lt"/>
              </a:rPr>
              <a:t>Detalle por paso:</a:t>
            </a:r>
            <a:endParaRPr lang="es-ES" sz="1800" b="0" i="0" dirty="0">
              <a:solidFill>
                <a:schemeClr val="bg1"/>
              </a:solidFill>
              <a:effectLst/>
              <a:latin typeface="quote-cjk-patch"/>
            </a:endParaRPr>
          </a:p>
        </p:txBody>
      </p:sp>
      <p:pic>
        <p:nvPicPr>
          <p:cNvPr id="8" name="ElevenLabs_2026-09-12T18_35_51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4733A475-15BA-93FE-8DB4-B4F3C43736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35657" y="584350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88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544286"/>
            <a:ext cx="6594768" cy="406209"/>
          </a:xfrm>
        </p:spPr>
        <p:txBody>
          <a:bodyPr rtlCol="0">
            <a:normAutofit fontScale="90000"/>
          </a:bodyPr>
          <a:lstStyle>
            <a:defPPr>
              <a:defRPr lang="es-ES"/>
            </a:defPPr>
          </a:lstStyle>
          <a:p>
            <a:r>
              <a:rPr lang="es-ES" sz="2400" b="0" dirty="0"/>
              <a:t>¿Qué hemos descubierto?</a:t>
            </a:r>
            <a:endParaRPr lang="es-ES" sz="2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9789" y="4130045"/>
            <a:ext cx="6594768" cy="195152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pic>
        <p:nvPicPr>
          <p:cNvPr id="13" name="Marcador de posición de imagen 12" descr="Vista de ángulo bajo de edificios alto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Elipse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192D6576-B683-5E1D-A2E2-FB97BA75B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472901"/>
              </p:ext>
            </p:extLst>
          </p:nvPr>
        </p:nvGraphicFramePr>
        <p:xfrm>
          <a:off x="4927333" y="1446782"/>
          <a:ext cx="5730240" cy="1711771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910080">
                  <a:extLst>
                    <a:ext uri="{9D8B030D-6E8A-4147-A177-3AD203B41FA5}">
                      <a16:colId xmlns:a16="http://schemas.microsoft.com/office/drawing/2014/main" val="28527998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1724404694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1319276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KPI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Valor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Interpretación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911099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RMSE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46.810 £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Error medio por semana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58244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MAE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41.178 £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Error absoluto medio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92813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Mejora vs baseline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40%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El modelo aporta valor real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290128578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7D65E3DD-F24F-C517-D864-6153C338B945}"/>
              </a:ext>
            </a:extLst>
          </p:cNvPr>
          <p:cNvSpPr txBox="1"/>
          <p:nvPr/>
        </p:nvSpPr>
        <p:spPr>
          <a:xfrm>
            <a:off x="4829789" y="1066909"/>
            <a:ext cx="6154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bg1"/>
                </a:solidFill>
                <a:effectLst/>
                <a:latin typeface="+mn-lt"/>
              </a:rPr>
              <a:t>Tres </a:t>
            </a:r>
            <a:r>
              <a:rPr lang="es-ES" sz="1800" b="1" i="0" dirty="0" err="1">
                <a:solidFill>
                  <a:schemeClr val="bg1"/>
                </a:solidFill>
                <a:effectLst/>
                <a:latin typeface="+mn-lt"/>
              </a:rPr>
              <a:t>KPIs</a:t>
            </a:r>
            <a:r>
              <a:rPr lang="es-ES" sz="1800" b="1" i="0" dirty="0">
                <a:solidFill>
                  <a:schemeClr val="bg1"/>
                </a:solidFill>
                <a:effectLst/>
                <a:latin typeface="+mn-lt"/>
              </a:rPr>
              <a:t> en tarjetas:</a:t>
            </a:r>
            <a:endParaRPr lang="es-ES" sz="1800" b="0" i="0" dirty="0">
              <a:solidFill>
                <a:schemeClr val="bg1"/>
              </a:solidFill>
              <a:effectLst/>
              <a:latin typeface="quote-cjk-patch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C14EAB5-DE49-7BAB-67FF-4369F0BC1C7E}"/>
              </a:ext>
            </a:extLst>
          </p:cNvPr>
          <p:cNvSpPr txBox="1"/>
          <p:nvPr/>
        </p:nvSpPr>
        <p:spPr>
          <a:xfrm>
            <a:off x="4624172" y="3158553"/>
            <a:ext cx="7870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bg1"/>
                </a:solidFill>
              </a:rPr>
              <a:t>Hallazgos clave:</a:t>
            </a:r>
            <a:endParaRPr lang="es-ES" sz="1000" dirty="0">
              <a:solidFill>
                <a:schemeClr val="bg1"/>
              </a:solidFill>
            </a:endParaRPr>
          </a:p>
          <a:p>
            <a:pPr lvl="0"/>
            <a:r>
              <a:rPr lang="es-ES" sz="1000" dirty="0">
                <a:solidFill>
                  <a:schemeClr val="bg1"/>
                </a:solidFill>
              </a:rPr>
              <a:t>📈 </a:t>
            </a:r>
            <a:r>
              <a:rPr lang="es-ES" sz="1000" b="1" dirty="0">
                <a:solidFill>
                  <a:schemeClr val="bg1"/>
                </a:solidFill>
              </a:rPr>
              <a:t>El modelo captura perfectamente la estacionalidad navideña</a:t>
            </a:r>
            <a:r>
              <a:rPr lang="es-ES" sz="1000" dirty="0">
                <a:solidFill>
                  <a:schemeClr val="bg1"/>
                </a:solidFill>
              </a:rPr>
              <a:t>: error &lt; 5% en las 3 últimas semanas del año.</a:t>
            </a:r>
          </a:p>
          <a:p>
            <a:pPr lvl="0"/>
            <a:r>
              <a:rPr lang="es-ES" sz="1000" dirty="0">
                <a:solidFill>
                  <a:schemeClr val="bg1"/>
                </a:solidFill>
              </a:rPr>
              <a:t>🎯 </a:t>
            </a:r>
            <a:r>
              <a:rPr lang="es-ES" sz="1000" b="1" dirty="0">
                <a:solidFill>
                  <a:schemeClr val="bg1"/>
                </a:solidFill>
              </a:rPr>
              <a:t>Las </a:t>
            </a:r>
            <a:r>
              <a:rPr lang="es-ES" sz="1000" b="1" dirty="0" err="1">
                <a:solidFill>
                  <a:schemeClr val="bg1"/>
                </a:solidFill>
              </a:rPr>
              <a:t>features</a:t>
            </a:r>
            <a:r>
              <a:rPr lang="es-ES" sz="1000" b="1" dirty="0">
                <a:solidFill>
                  <a:schemeClr val="bg1"/>
                </a:solidFill>
              </a:rPr>
              <a:t> más importantes</a:t>
            </a:r>
            <a:r>
              <a:rPr lang="es-ES" sz="1000" dirty="0">
                <a:solidFill>
                  <a:schemeClr val="bg1"/>
                </a:solidFill>
              </a:rPr>
              <a:t> son las ventas de la semana anterior (37%) y la tendencia del último mes (30%).</a:t>
            </a:r>
          </a:p>
          <a:p>
            <a:pPr lvl="0"/>
            <a:r>
              <a:rPr lang="es-ES" sz="1000" dirty="0">
                <a:solidFill>
                  <a:schemeClr val="bg1"/>
                </a:solidFill>
              </a:rPr>
              <a:t>⚠️ </a:t>
            </a:r>
            <a:r>
              <a:rPr lang="es-ES" sz="1000" b="1" dirty="0">
                <a:solidFill>
                  <a:schemeClr val="bg1"/>
                </a:solidFill>
              </a:rPr>
              <a:t>Las semanas de transición (sept-oct)</a:t>
            </a:r>
            <a:r>
              <a:rPr lang="es-ES" sz="1000" dirty="0">
                <a:solidFill>
                  <a:schemeClr val="bg1"/>
                </a:solidFill>
              </a:rPr>
              <a:t> son más difíciles de predecir (error ~20%).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0BFD8DC-EDA8-C08E-7C4E-2CD5372E10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1839" y="3984179"/>
            <a:ext cx="3644494" cy="211249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3E5B2AA-7EC0-8B45-37B1-E684802620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6333" y="3978662"/>
            <a:ext cx="3847751" cy="2112498"/>
          </a:xfrm>
          <a:prstGeom prst="rect">
            <a:avLst/>
          </a:prstGeom>
        </p:spPr>
      </p:pic>
      <p:pic>
        <p:nvPicPr>
          <p:cNvPr id="18" name="ElevenLabs_2026-09-12T18_42_33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07632C8B-FCA8-EE0C-ECA7-C477A15913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326721" y="589547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013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059423" cy="48752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s-ES" sz="1800" b="0" dirty="0"/>
              <a:t>Conclusiones y recomendaciones</a:t>
            </a:r>
            <a:endParaRPr lang="es-ES" sz="180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5</a:t>
            </a:fld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6106F5B-64AD-69F5-7564-38DC898AA596}"/>
              </a:ext>
            </a:extLst>
          </p:cNvPr>
          <p:cNvSpPr txBox="1"/>
          <p:nvPr/>
        </p:nvSpPr>
        <p:spPr>
          <a:xfrm>
            <a:off x="449180" y="1383632"/>
            <a:ext cx="7151317" cy="3354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solidFill>
                  <a:schemeClr val="bg1"/>
                </a:solidFill>
              </a:rPr>
              <a:t>Recomendaciones para los mercaderes:</a:t>
            </a:r>
          </a:p>
          <a:p>
            <a:endParaRPr lang="es-ES" sz="1100" dirty="0">
              <a:solidFill>
                <a:schemeClr val="bg1"/>
              </a:solidFill>
            </a:endParaRPr>
          </a:p>
          <a:p>
            <a:r>
              <a:rPr lang="es-ES" sz="1100" dirty="0">
                <a:solidFill>
                  <a:schemeClr val="bg1"/>
                </a:solidFill>
              </a:rPr>
              <a:t>Planificar el stock navideño: usar el modelo para anticipar la demanda entre </a:t>
            </a:r>
          </a:p>
          <a:p>
            <a:r>
              <a:rPr lang="es-ES" sz="1100" dirty="0">
                <a:solidFill>
                  <a:schemeClr val="bg1"/>
                </a:solidFill>
              </a:rPr>
              <a:t>octubre y diciembre → aumentar stock 80-100%.</a:t>
            </a:r>
          </a:p>
          <a:p>
            <a:endParaRPr lang="es-ES" sz="1100" dirty="0">
              <a:solidFill>
                <a:schemeClr val="bg1"/>
              </a:solidFill>
            </a:endParaRPr>
          </a:p>
          <a:p>
            <a:r>
              <a:rPr lang="es-ES" sz="1100" dirty="0">
                <a:solidFill>
                  <a:schemeClr val="bg1"/>
                </a:solidFill>
              </a:rPr>
              <a:t>Reducir costes en enero-febrero: las ventas caen un 60% → ajustar operativa.</a:t>
            </a:r>
          </a:p>
          <a:p>
            <a:endParaRPr lang="es-ES" sz="1100" dirty="0">
              <a:solidFill>
                <a:schemeClr val="bg1"/>
              </a:solidFill>
            </a:endParaRPr>
          </a:p>
          <a:p>
            <a:r>
              <a:rPr lang="es-ES" sz="1100" dirty="0">
                <a:solidFill>
                  <a:schemeClr val="bg1"/>
                </a:solidFill>
              </a:rPr>
              <a:t>Reentrenar el modelo cada 6 meses con nuevos datos para mantener la precisión.</a:t>
            </a:r>
          </a:p>
          <a:p>
            <a:endParaRPr lang="es-ES" sz="1100" dirty="0">
              <a:solidFill>
                <a:schemeClr val="bg1"/>
              </a:solidFill>
            </a:endParaRPr>
          </a:p>
          <a:p>
            <a:r>
              <a:rPr lang="es-ES" sz="1100" dirty="0">
                <a:solidFill>
                  <a:schemeClr val="bg1"/>
                </a:solidFill>
              </a:rPr>
              <a:t>Ampliar el historial a más de 3 años para mejorar la precisión a largo plazo.</a:t>
            </a:r>
          </a:p>
          <a:p>
            <a:endParaRPr lang="es-ES" sz="1100" dirty="0">
              <a:solidFill>
                <a:schemeClr val="bg1"/>
              </a:solidFill>
            </a:endParaRPr>
          </a:p>
          <a:p>
            <a:endParaRPr lang="es-ES" sz="1100" dirty="0">
              <a:solidFill>
                <a:schemeClr val="bg1"/>
              </a:solidFill>
            </a:endParaRPr>
          </a:p>
          <a:p>
            <a:r>
              <a:rPr lang="es-ES" sz="1100" dirty="0">
                <a:solidFill>
                  <a:schemeClr val="bg1"/>
                </a:solidFill>
              </a:rPr>
              <a:t>💡 "La IA transforma datos históricos en decisiones estratégicas para el futuro del Mercado de las Especias."</a:t>
            </a:r>
          </a:p>
          <a:p>
            <a:endParaRPr lang="es-ES" sz="1100" dirty="0">
              <a:solidFill>
                <a:schemeClr val="bg1"/>
              </a:solidFill>
            </a:endParaRPr>
          </a:p>
          <a:p>
            <a:r>
              <a:rPr lang="es-ES" sz="1100" dirty="0">
                <a:solidFill>
                  <a:schemeClr val="bg1"/>
                </a:solidFill>
              </a:rPr>
              <a:t>Contacto:</a:t>
            </a:r>
          </a:p>
          <a:p>
            <a:endParaRPr lang="es-ES" sz="1100" dirty="0">
              <a:solidFill>
                <a:schemeClr val="bg1"/>
              </a:solidFill>
            </a:endParaRPr>
          </a:p>
          <a:p>
            <a:r>
              <a:rPr lang="es-ES" sz="1100" dirty="0">
                <a:solidFill>
                  <a:schemeClr val="bg1"/>
                </a:solidFill>
              </a:rPr>
              <a:t>Autora: Judit Giravent</a:t>
            </a:r>
          </a:p>
          <a:p>
            <a:endParaRPr lang="es-ES" sz="1100" dirty="0">
              <a:solidFill>
                <a:schemeClr val="bg1"/>
              </a:solidFill>
            </a:endParaRPr>
          </a:p>
          <a:p>
            <a:r>
              <a:rPr lang="es-ES" sz="1100" dirty="0">
                <a:solidFill>
                  <a:schemeClr val="bg1"/>
                </a:solidFill>
              </a:rPr>
              <a:t>Herramientas: Python · pandas · </a:t>
            </a:r>
            <a:r>
              <a:rPr lang="es-ES" sz="1100" dirty="0" err="1">
                <a:solidFill>
                  <a:schemeClr val="bg1"/>
                </a:solidFill>
              </a:rPr>
              <a:t>scikit-learn</a:t>
            </a:r>
            <a:r>
              <a:rPr lang="es-ES" sz="1100" dirty="0">
                <a:solidFill>
                  <a:schemeClr val="bg1"/>
                </a:solidFill>
              </a:rPr>
              <a:t> · Google </a:t>
            </a:r>
            <a:r>
              <a:rPr lang="es-ES" sz="1100" dirty="0" err="1">
                <a:solidFill>
                  <a:schemeClr val="bg1"/>
                </a:solidFill>
              </a:rPr>
              <a:t>Colab</a:t>
            </a:r>
            <a:endParaRPr lang="es-ES" sz="1100" dirty="0">
              <a:solidFill>
                <a:schemeClr val="bg1"/>
              </a:solidFill>
            </a:endParaRPr>
          </a:p>
        </p:txBody>
      </p:sp>
      <p:pic>
        <p:nvPicPr>
          <p:cNvPr id="5" name="ElevenLabs_2026-09-12T18_47_39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6FCB2146-B6E0-20F0-8AAF-6CF1BA28E1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193046" y="5975852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9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Personalizar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16625_TF33968143_Win32" id="{FD55521C-97B8-455D-B14F-4B365F441772}" vid="{700AE2DC-749E-4702-88ED-A17DDD6F6BA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{F67E900E-9CDA-4E97-8D07-84C316559FEE}TF55c86556-70ea-476e-aa05-13a38f2d5b0d9d059710_win32-466d335bc4d7</Template>
  <TotalTime>23</TotalTime>
  <Words>430</Words>
  <Application>Microsoft Office PowerPoint</Application>
  <PresentationFormat>Panorámica</PresentationFormat>
  <Paragraphs>76</Paragraphs>
  <Slides>5</Slides>
  <Notes>5</Notes>
  <HiddenSlides>0</HiddenSlides>
  <MMClips>4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Avenir Next LT Pro</vt:lpstr>
      <vt:lpstr>Calibri</vt:lpstr>
      <vt:lpstr>quote-cjk-patch</vt:lpstr>
      <vt:lpstr>Personalizar</vt:lpstr>
      <vt:lpstr>Predicción de Ventas con IA</vt:lpstr>
      <vt:lpstr>Predicción de Ventas con IA</vt:lpstr>
      <vt:lpstr>Proceso seguido en el desarrollo del modelo</vt:lpstr>
      <vt:lpstr>¿Qué hemos descubierto?</vt:lpstr>
      <vt:lpstr>Conclusiones y recomendaciones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Judit Giravent Pineda</dc:creator>
  <cp:lastModifiedBy>Judit Giravent Pineda</cp:lastModifiedBy>
  <cp:revision>8</cp:revision>
  <dcterms:created xsi:type="dcterms:W3CDTF">2026-09-12T18:25:19Z</dcterms:created>
  <dcterms:modified xsi:type="dcterms:W3CDTF">2026-09-12T18:48:46Z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